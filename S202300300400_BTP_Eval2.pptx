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265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349" y="9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278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Matching and Retrieval 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7830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Script Documents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Thesis Project (BTP)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108960"/>
            <a:ext cx="2743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Pappu Meghana (S20230030400)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 | IIIT Sricity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685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09728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566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Scripts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left-to-right, one-dimensional structure. Near 1:1 mapping between characters and Unicode. Traditional string matching works well.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834640" cy="35661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375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Scripts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37560" y="1572768"/>
            <a:ext cx="2286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Multi-dimensional, hierarchical structure. Aksharas grow in multiple directions. Complex many-to-many mapping between visual glyphs and Unicode.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834640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1572768"/>
            <a:ext cx="2286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byte sequences don't reflect linguistic structure. Traditional LED treats code points as atomic units, missing structural relationships.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Goal: Learn a structurally-aware similarity function for Indic Unicode sequences using deep learning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Levels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Representation — with Increasing Intuitiveness (→)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432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Machine Representation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2377440" cy="9601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1110xxxx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10xxxxxx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10xxxxxx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encoding. Multiple bytes per character. No linguistic meaning in structure.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219456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4439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Intuitive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2743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91840" y="13167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Point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1874520"/>
            <a:ext cx="2377440" cy="9601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29000" y="190195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0x0C15 (క)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0x0C4d (్)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0x0C37 (ష)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926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point sequences. Structured but linear. Fails to show multi-dimensional nature.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4434840"/>
            <a:ext cx="21945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74720" y="44439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280160"/>
            <a:ext cx="2743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26480" y="1280160"/>
            <a:ext cx="2743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17920" y="13167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Glyph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1554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1874520"/>
            <a:ext cx="2377440" cy="9601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6355080" y="190195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926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 capturing true visual structure. Most linguistically meaningful.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434840"/>
            <a:ext cx="219456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0" y="44439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Intuitive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63240" y="4709160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71800" y="29946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89320" y="4709160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897880" y="29946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652DB8-63D9-B5B2-3EC5-8B7DEDB8FF14}"/>
              </a:ext>
            </a:extLst>
          </p:cNvPr>
          <p:cNvSpPr txBox="1"/>
          <p:nvPr/>
        </p:nvSpPr>
        <p:spPr>
          <a:xfrm>
            <a:off x="6711696" y="2258568"/>
            <a:ext cx="1883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1400" dirty="0"/>
              <a:t>కి </a:t>
            </a:r>
            <a:r>
              <a:rPr lang="en-IN" sz="1400" dirty="0"/>
              <a:t>(</a:t>
            </a: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IN" sz="1400" dirty="0"/>
              <a:t>x</a:t>
            </a: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IN" sz="1400" dirty="0"/>
              <a:t>c15,</a:t>
            </a: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IN" sz="1400" dirty="0"/>
              <a:t>x</a:t>
            </a: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IN" sz="1400" dirty="0"/>
              <a:t>c3f)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25880"/>
          </a:xfrm>
          <a:prstGeom prst="rect">
            <a:avLst/>
          </a:prstGeom>
          <a:solidFill>
            <a:srgbClr val="1A2A4A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two Telugu words x₁ and x₂ represented as Unicode code-point sequences, learn a distance function: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f(x₁, x₂)   such that   ŷ ≈ LED(x₁, x₂)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" y="2331720"/>
            <a:ext cx="2834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" y="2331720"/>
            <a:ext cx="457200" cy="2468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Complexity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Aksharas are composite units — base consonant + vowel/consonant modifiers stacked multi-dimensionally. LED treats each code point atomically, missing structural weight.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331720"/>
            <a:ext cx="2834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0" y="2331720"/>
            <a:ext cx="457200" cy="2468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2423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Mapping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8346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akshara maps to multiple Unicode code points, and the same Unicode sequence can represent different visual forms depending on context.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331720"/>
            <a:ext cx="2834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72200" y="2331720"/>
            <a:ext cx="457200" cy="2468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722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2423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Complexity of LED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8346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has O(|x₁|·|x₂|) complexity. Our model reduces this to O(|x₁|) + O(|x₂|) at inference by learning embeddings.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  (Last Presentation)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covered: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42519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36245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664208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17373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task: learn f(x1, x2) -&gt; y where y = LED(x1, x2). Identified Indic script challenges — akshara complexity, many-to-many Unicode mapping, quadratic LED cost.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4251960" cy="731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00600" y="1353312"/>
            <a:ext cx="347472" cy="34747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0600" y="136245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12984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57800" y="1664208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57800" y="17373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Navarro (2001): LED limitations. Bromley et al. (1993): Siamese networks. Bellet et al. (2015): Metric learning. Krishnan et al. (2015): Indic script encoding issues.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999232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8600" y="2999232"/>
            <a:ext cx="4251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18211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19125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1272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Architecture Proposed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3493008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2960" y="35661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Unicode-level Siamese network with shared encoders. Two encoder pathways: RNN (context) and CNN (for spatial context). MSE regression loss on LED.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999232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2999232"/>
            <a:ext cx="4251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00600" y="31821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0600" y="319125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31272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Word Collection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57800" y="3493008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257800" y="35661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words collected and mapped to Unicode sequences. Concept of word -&gt; Unicode hex -&gt; one-hot encoding pipeline described. Fixed vocab (60 code points) defined.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Work — Preprocessing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92024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A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192024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UTF-8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371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db1_utf8_pairs.csv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" y="1664208"/>
            <a:ext cx="17922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word pairs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(Telugu UTF-8)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67128" y="171907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23160" y="841248"/>
            <a:ext cx="192024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23160" y="841248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23160" y="868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7168" y="1371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db2_unicode_pairs.csv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87168" y="1664208"/>
            <a:ext cx="17922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pairs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(hex code points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LED labels)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61688" y="171907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17720" y="841248"/>
            <a:ext cx="192024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369A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17720" y="841248"/>
            <a:ext cx="192024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17720" y="868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81728" y="1371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db2_unicode_integers.csv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81728" y="1664208"/>
            <a:ext cx="17922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pairs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(decimal Unicode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56248" y="171907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12280" y="841248"/>
            <a:ext cx="192024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812280" y="841248"/>
            <a:ext cx="19202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12280" y="868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76288" y="13716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db3_processed.csv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76288" y="1664208"/>
            <a:ext cx="17922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pairs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(vocab-indexed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035808"/>
            <a:ext cx="4160520" cy="10515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28600" y="3035808"/>
            <a:ext cx="10972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1480" y="30723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vocab.txt — 60 code 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3649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unique Telugu Unicode code points selected after filtering rare elements from the 128-point block (0x0C00-0x0C7F). Each mapped to index 0-59 for integer encoding.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035808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63440" y="3035808"/>
            <a:ext cx="109728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46320" y="3072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Distribution  (122 pairs)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3649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2-19   |   Mean: 7.85   |   Most common: LED=5 (20), LED=4 &amp; 6 (15 each)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short to long edit distances — good diversity for training.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>
            <a:extLst>
              <a:ext uri="{FF2B5EF4-FFF2-40B4-BE49-F238E27FC236}">
                <a16:creationId xmlns:a16="http://schemas.microsoft.com/office/drawing/2014/main" id="{842E95D6-FC91-0D0D-1A98-13ED8A79367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54" name="Shape 1">
            <a:extLst>
              <a:ext uri="{FF2B5EF4-FFF2-40B4-BE49-F238E27FC236}">
                <a16:creationId xmlns:a16="http://schemas.microsoft.com/office/drawing/2014/main" id="{57A1A334-0AB0-68CB-B548-B597AA05527F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AFB4E616-CEBD-AB0F-D8E7-2B19DE109CA0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Dataset Creation</a:t>
            </a:r>
            <a:endParaRPr lang="en-US" sz="2400" dirty="0"/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91CE7BEA-FEF5-4A54-D29B-6015BF93094A}"/>
              </a:ext>
            </a:extLst>
          </p:cNvPr>
          <p:cNvSpPr/>
          <p:nvPr/>
        </p:nvSpPr>
        <p:spPr>
          <a:xfrm>
            <a:off x="365760" y="868680"/>
            <a:ext cx="192024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2A68AC17-B72D-F314-5BEE-DD35EC9D5489}"/>
              </a:ext>
            </a:extLst>
          </p:cNvPr>
          <p:cNvSpPr/>
          <p:nvPr/>
        </p:nvSpPr>
        <p:spPr>
          <a:xfrm>
            <a:off x="365760" y="8961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2400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8B73EAD9-FFC3-9FAB-8230-4DBDB3333E5C}"/>
              </a:ext>
            </a:extLst>
          </p:cNvPr>
          <p:cNvSpPr/>
          <p:nvPr/>
        </p:nvSpPr>
        <p:spPr>
          <a:xfrm>
            <a:off x="365760" y="13898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Word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Collected</a:t>
            </a:r>
            <a:endParaRPr lang="en-US" sz="900" dirty="0"/>
          </a:p>
        </p:txBody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507655B0-EFBF-B880-DAE1-CB0BF7BC445E}"/>
              </a:ext>
            </a:extLst>
          </p:cNvPr>
          <p:cNvSpPr/>
          <p:nvPr/>
        </p:nvSpPr>
        <p:spPr>
          <a:xfrm>
            <a:off x="2468880" y="868680"/>
            <a:ext cx="192024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094FDE02-4FF0-2A2A-199D-C7E85E1B3C9D}"/>
              </a:ext>
            </a:extLst>
          </p:cNvPr>
          <p:cNvSpPr/>
          <p:nvPr/>
        </p:nvSpPr>
        <p:spPr>
          <a:xfrm>
            <a:off x="2468880" y="8961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4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61502333-EA14-FAF4-7994-924A085C70D0}"/>
              </a:ext>
            </a:extLst>
          </p:cNvPr>
          <p:cNvSpPr/>
          <p:nvPr/>
        </p:nvSpPr>
        <p:spPr>
          <a:xfrm>
            <a:off x="2468880" y="13898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(Unicode code pts)</a:t>
            </a:r>
            <a:endParaRPr lang="en-US" sz="900" dirty="0"/>
          </a:p>
        </p:txBody>
      </p:sp>
      <p:sp>
        <p:nvSpPr>
          <p:cNvPr id="62" name="Shape 9">
            <a:extLst>
              <a:ext uri="{FF2B5EF4-FFF2-40B4-BE49-F238E27FC236}">
                <a16:creationId xmlns:a16="http://schemas.microsoft.com/office/drawing/2014/main" id="{D8925F06-AA1D-FD7A-DEA5-09AC23C42D57}"/>
              </a:ext>
            </a:extLst>
          </p:cNvPr>
          <p:cNvSpPr/>
          <p:nvPr/>
        </p:nvSpPr>
        <p:spPr>
          <a:xfrm>
            <a:off x="4572000" y="868680"/>
            <a:ext cx="192024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3EB051D7-1566-7D5A-9DD7-F62F68CAC0DA}"/>
              </a:ext>
            </a:extLst>
          </p:cNvPr>
          <p:cNvSpPr/>
          <p:nvPr/>
        </p:nvSpPr>
        <p:spPr>
          <a:xfrm>
            <a:off x="4572000" y="8961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2–19</a:t>
            </a:r>
            <a:endParaRPr lang="en-US" sz="2400" dirty="0"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B383D8B-1A05-7777-E31E-A7251C840289}"/>
              </a:ext>
            </a:extLst>
          </p:cNvPr>
          <p:cNvSpPr/>
          <p:nvPr/>
        </p:nvSpPr>
        <p:spPr>
          <a:xfrm>
            <a:off x="4572000" y="13898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Range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(Mean: 7.85)</a:t>
            </a:r>
            <a:endParaRPr lang="en-US" sz="900" dirty="0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BCA8E6C6-0F59-5655-F422-D8D55A38B7C8}"/>
              </a:ext>
            </a:extLst>
          </p:cNvPr>
          <p:cNvSpPr/>
          <p:nvPr/>
        </p:nvSpPr>
        <p:spPr>
          <a:xfrm>
            <a:off x="6675120" y="868680"/>
            <a:ext cx="192024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91E6E8B0-B6DC-4E23-DBE5-C6F0A9DE2505}"/>
              </a:ext>
            </a:extLst>
          </p:cNvPr>
          <p:cNvSpPr/>
          <p:nvPr/>
        </p:nvSpPr>
        <p:spPr>
          <a:xfrm>
            <a:off x="6675120" y="8961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DBs</a:t>
            </a:r>
            <a:endParaRPr lang="en-US" sz="2400" dirty="0"/>
          </a:p>
        </p:txBody>
      </p:sp>
      <p:sp>
        <p:nvSpPr>
          <p:cNvPr id="67" name="Text 14">
            <a:extLst>
              <a:ext uri="{FF2B5EF4-FFF2-40B4-BE49-F238E27FC236}">
                <a16:creationId xmlns:a16="http://schemas.microsoft.com/office/drawing/2014/main" id="{2B6DC83C-7A0E-12D1-D97F-03FE1BCC7903}"/>
              </a:ext>
            </a:extLst>
          </p:cNvPr>
          <p:cNvSpPr/>
          <p:nvPr/>
        </p:nvSpPr>
        <p:spPr>
          <a:xfrm>
            <a:off x="6675120" y="13898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900" dirty="0"/>
          </a:p>
        </p:txBody>
      </p:sp>
      <p:sp>
        <p:nvSpPr>
          <p:cNvPr id="68" name="Text 15">
            <a:extLst>
              <a:ext uri="{FF2B5EF4-FFF2-40B4-BE49-F238E27FC236}">
                <a16:creationId xmlns:a16="http://schemas.microsoft.com/office/drawing/2014/main" id="{9DF5B9D7-5A76-E9C2-760C-B49E7A4C5366}"/>
              </a:ext>
            </a:extLst>
          </p:cNvPr>
          <p:cNvSpPr/>
          <p:nvPr/>
        </p:nvSpPr>
        <p:spPr>
          <a:xfrm>
            <a:off x="36576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Creation Pipeline</a:t>
            </a:r>
            <a:endParaRPr lang="en-US" sz="1300" dirty="0"/>
          </a:p>
        </p:txBody>
      </p:sp>
      <p:pic>
        <p:nvPicPr>
          <p:cNvPr id="69" name="Image 0" descr="/home/claude/pipeline_simple.png">
            <a:extLst>
              <a:ext uri="{FF2B5EF4-FFF2-40B4-BE49-F238E27FC236}">
                <a16:creationId xmlns:a16="http://schemas.microsoft.com/office/drawing/2014/main" id="{A56492D6-FF1F-4DF7-2289-5071753757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2285999"/>
            <a:ext cx="9560560" cy="2987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CNN-Based Siamese Network</a:t>
            </a:r>
            <a:endParaRPr lang="en-US" sz="2200" dirty="0"/>
          </a:p>
        </p:txBody>
      </p:sp>
      <p:pic>
        <p:nvPicPr>
          <p:cNvPr id="5" name="Image 0" descr="/home/claude/architectur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895" y="822960"/>
            <a:ext cx="54864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822960"/>
            <a:ext cx="3017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035040" y="914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3258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seq. (1×128 one-hot per code point)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0" y="18013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1801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d-dim space (e.g. d=64)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5040" y="227685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×2: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22768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spatial patterns between code points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35039" y="2752344"/>
            <a:ext cx="11103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GlobalMaxPool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40880" y="27523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variable-length input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35040" y="32278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3227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to n-dim representation (e.g. n=250)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3504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z₁⊕z₂: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4088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both word vectors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41788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40880" y="4178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MSE: L = ||ŷ − y||²  (LED supervision)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Preprocessing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Dimensions (Phase 2 Target)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3977640" cy="40233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316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x 10  (variable len, one-hot 60)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773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7739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× 64  (d = 64)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3977640" cy="40233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231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(5 kernels, k=5)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2311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× 250  (T−k+1 = 6 dimensions)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33472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26883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(5 kernels)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6883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400  (stacked convolution)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090672"/>
            <a:ext cx="3977640" cy="40233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145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GlobalMaxPool1D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×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602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 (per word vector)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005072"/>
            <a:ext cx="3977640" cy="40233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z₁ ⊕ z₂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40599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250(If </a:t>
            </a:r>
            <a:r>
              <a:rPr lang="en-US" sz="10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=&gt;diff(-))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462272"/>
            <a:ext cx="39776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4517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(1, linear)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23160" y="45171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→ predicted LED (ŷ)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82296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8869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Status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1298448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9160" y="131673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920" y="1325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Telugu word pairs collected (db1_utf8_pairs.csv)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169164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09160" y="170992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1719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→ Unicode hex sequence conversion (db2_unicode_pairs.csv)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208483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09160" y="210312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74920" y="2112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computed for each pair as ground truth label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2478024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09160" y="249631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→ decimal integer mapping (db2_unicode_integers.csv)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287121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709160" y="288950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74920" y="2898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filtered: 60 code points from 128-pt block (vocab.txt)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09160" y="3264408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09160" y="328269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74920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index mapping: code point → index 0-59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365760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709160" y="367588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74920" y="3685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(x1, x2, y) triples dataset built (db3_processed.csv)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09160" y="4050792"/>
            <a:ext cx="292608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709160" y="406908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074920" y="4078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on db3 dataset (Phase 2)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09160" y="4443984"/>
            <a:ext cx="292608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709160" y="446227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74920" y="4471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retrieval benchmarking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574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0574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8503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11556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" y="15544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76072" y="15179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&amp; preprocessing 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" y="24688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6072" y="24323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dataset with LED labels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" y="33832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76072" y="33467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(CNN Siamese)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04872" y="822960"/>
            <a:ext cx="20574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404872" y="822960"/>
            <a:ext cx="20574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04872" y="8503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04872" y="111556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1554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52344" y="15179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embedding space (dim &lt; 128)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24688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52344" y="24323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one-hot with learned embeddings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33832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52344" y="33467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CNN Siamese network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42976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52344" y="42611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MSE alignment with LED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81144" y="822960"/>
            <a:ext cx="20574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81144" y="822960"/>
            <a:ext cx="205740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81144" y="8503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81144" y="111556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90872" y="155448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28616" y="15179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comparison strategies (concat, dot product, cosine)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246888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28616" y="24323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analysis of learned representations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90872" y="338328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28616" y="33467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 vs baseline LED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57416" y="822960"/>
            <a:ext cx="20574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757416" y="822960"/>
            <a:ext cx="205740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757416" y="85039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57416" y="111556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67144" y="155448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104888" y="15179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vocabulary; add modifier characters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67144" y="246888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104888" y="24323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Glyph-level matching (visual representation)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67144" y="3383280"/>
            <a:ext cx="164592" cy="16459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104888" y="33467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to other Indic scripts (Kannada, Devanagari)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4800600"/>
            <a:ext cx="8686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28600" y="4800600"/>
            <a:ext cx="8586216" cy="1920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 47"/>
          <p:cNvSpPr/>
          <p:nvPr/>
        </p:nvSpPr>
        <p:spPr>
          <a:xfrm>
            <a:off x="228600" y="4974336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Phase 1/4 Complete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Bellet, A. Habrard, M. Sebban. "A Survey on Metric Learning for Feature Vectors and Structured Data." IEEE TPAMI, vol. 37, no. 11, pp. 2172--2189, 2015.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P. K.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Perepu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"A semantic-based deep learning framework for mathematical expression retrieval," Knowledge and Information Systems, vol. 68, p. 115, 2026. </a:t>
            </a:r>
          </a:p>
          <a:p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2311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A. Graves. "Supervised Sequence Labelling with Recurrent Neural Networks." Springer, 2009.</a:t>
            </a:r>
          </a:p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[4] P. K. </a:t>
            </a:r>
            <a:r>
              <a:rPr lang="en-US" sz="1200" dirty="0" err="1">
                <a:solidFill>
                  <a:schemeClr val="bg1"/>
                </a:solidFill>
              </a:rPr>
              <a:t>Perepu</a:t>
            </a:r>
            <a:r>
              <a:rPr lang="en-US" sz="1200" dirty="0">
                <a:solidFill>
                  <a:schemeClr val="bg1"/>
                </a:solidFill>
              </a:rPr>
              <a:t>, "OpenMP Implementation of Parallel Longest Common Subsequence Algorithm for Mathematical Expression Retrieval," Parallel Processing Letters, vol. 31, no. 2, p. 2150007, 2021.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2889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138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G. Navarro. "A Guided Tour to Approximate String Matching." ACM Computing Surveys, vol. 33, no. 1, pp. 31--88, 2001.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292608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Pappu Meghana | S20230030400 | AI &amp; Data Science | IIIT Sricity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1310</Words>
  <Application>Microsoft Office PowerPoint</Application>
  <PresentationFormat>On-screen Show (16:9)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Matching and Retrieval of Indic Scripts</dc:title>
  <dc:subject>PptxGenJS Presentation</dc:subject>
  <dc:creator>PptxGenJS</dc:creator>
  <cp:lastModifiedBy>Meghana Sharma</cp:lastModifiedBy>
  <cp:revision>18</cp:revision>
  <dcterms:created xsi:type="dcterms:W3CDTF">2026-04-19T23:15:49Z</dcterms:created>
  <dcterms:modified xsi:type="dcterms:W3CDTF">2026-04-20T09:29:44Z</dcterms:modified>
</cp:coreProperties>
</file>